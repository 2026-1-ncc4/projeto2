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embeddedFontLst>
    <p:embeddedFont>
      <p:font typeface="Inter" panose="020B0604020202020204" charset="0"/>
      <p:regular r:id="rId4"/>
      <p:bold r:id="rId5"/>
      <p:italic r:id="rId6"/>
      <p:boldItalic r:id="rId7"/>
    </p:embeddedFont>
    <p:embeddedFont>
      <p:font typeface="Open Sans" panose="020B0606030504020204" pitchFamily="34" charset="0"/>
      <p:regular r:id="rId8"/>
      <p:bold r:id="rId9"/>
      <p:boldItalic r:id="rId10"/>
    </p:embeddedFont>
    <p:embeddedFont>
      <p:font typeface="Open Sans 1 Bold" panose="020B0604020202020204" charset="0"/>
      <p:regular r:id="rId11"/>
    </p:embeddedFont>
    <p:embeddedFont>
      <p:font typeface="Open Sans 2" panose="020B0604020202020204" charset="0"/>
      <p:regular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i+9yr4mDS8zg5+kfXTqvtBuST6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2526" y="192"/>
      </p:cViewPr>
      <p:guideLst>
        <p:guide orient="horz" pos="4366"/>
        <p:guide pos="54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customschemas.google.com/relationships/presentationmetadata" Target="meta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sz="7623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15823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marL="914400" lvl="1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marL="1371600" lvl="2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marL="1828800" lvl="3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marL="2286000" lvl="4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marL="2743200" lvl="5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marL="3200400" lvl="6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marL="3657600" lvl="7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marL="4114800" lvl="8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sz="838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615823" algn="l" rtl="0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sz="60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67436" algn="l" rtl="0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sz="53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19049" algn="l" rtl="0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sz="45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70599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 extrusionOk="0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l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 extrusionOk="0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54247"/>
            <a:ext cx="29303943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 extrusionOk="0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 extrusionOk="0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0939017" y="13420436"/>
            <a:ext cx="20731171" cy="13057756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 extrusionOk="0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75" y="30011224"/>
            <a:ext cx="13848535" cy="8372959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 extrusionOk="0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289000" y="30011233"/>
            <a:ext cx="12527629" cy="8372803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 extrusionOk="0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6800" tIns="96800" rIns="96800" bIns="9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700" cy="49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62" b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/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 extrusionOk="0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 extrusionOk="0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7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/>
          </a:p>
        </p:txBody>
      </p:sp>
      <p:grpSp>
        <p:nvGrpSpPr>
          <p:cNvPr id="119" name="Google Shape;119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20" name="Google Shape;120;p1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 extrusionOk="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"/>
          <p:cNvGrpSpPr/>
          <p:nvPr/>
        </p:nvGrpSpPr>
        <p:grpSpPr>
          <a:xfrm rot="-5400000">
            <a:off x="2460145" y="17961211"/>
            <a:ext cx="10275743" cy="14355435"/>
            <a:chOff x="0" y="-47625"/>
            <a:chExt cx="936167" cy="1348764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 extrusionOk="0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 extrusionOk="0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-1" y="4700167"/>
            <a:ext cx="28813765" cy="177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01005"/>
              </a:lnSpc>
            </a:pPr>
            <a:r>
              <a:rPr lang="en-US" sz="11434" b="1" spc="433" dirty="0">
                <a:latin typeface="Open Sans 1 Bold"/>
                <a:ea typeface="Open Sans 1 Bold"/>
                <a:cs typeface="Open Sans 1 Bold"/>
                <a:sym typeface="Open Sans 1 Bold"/>
              </a:rPr>
              <a:t>CANNOLITSKY</a:t>
            </a:r>
            <a:endParaRPr dirty="0"/>
          </a:p>
        </p:txBody>
      </p:sp>
      <p:sp>
        <p:nvSpPr>
          <p:cNvPr id="127" name="Google Shape;127;p1"/>
          <p:cNvSpPr txBox="1"/>
          <p:nvPr/>
        </p:nvSpPr>
        <p:spPr>
          <a:xfrm>
            <a:off x="2404768" y="6355587"/>
            <a:ext cx="24286089" cy="1885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ts val="6668"/>
              </a:lnSpc>
            </a:pPr>
            <a:r>
              <a:rPr lang="en-US" sz="4762" b="1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  <a:sym typeface="Open Sans 2 Bold"/>
              </a:rPr>
              <a:t>Larissa de Almeida, Luan Rocha, Saulo Santos e Vinicius Cardoso</a:t>
            </a:r>
          </a:p>
          <a:p>
            <a:pPr lvl="0" algn="ctr">
              <a:lnSpc>
                <a:spcPct val="140025"/>
              </a:lnSpc>
            </a:pPr>
            <a:r>
              <a:rPr lang="en-US" sz="4762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</a:t>
            </a: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US" sz="4762" dirty="0">
                <a:latin typeface="Open Sans 2"/>
                <a:ea typeface="Open Sans 2"/>
                <a:cs typeface="Open Sans 2"/>
                <a:sym typeface="Open Sans 2"/>
              </a:rPr>
              <a:t> Eduardo Savino, Maurício Lopes e </a:t>
            </a:r>
            <a:r>
              <a:rPr lang="en-US" sz="4762" dirty="0" err="1">
                <a:latin typeface="Open Sans 2"/>
                <a:ea typeface="Open Sans 2"/>
                <a:cs typeface="Open Sans 2"/>
                <a:sym typeface="Open Sans 2"/>
              </a:rPr>
              <a:t>Rodnil</a:t>
            </a:r>
            <a:r>
              <a:rPr lang="en-US" sz="4762" dirty="0">
                <a:latin typeface="Open Sans 2"/>
                <a:ea typeface="Open Sans 2"/>
                <a:cs typeface="Open Sans 2"/>
                <a:sym typeface="Open Sans 2"/>
              </a:rPr>
              <a:t> Lisboa</a:t>
            </a:r>
            <a:endParaRPr dirty="0"/>
          </a:p>
        </p:txBody>
      </p:sp>
      <p:sp>
        <p:nvSpPr>
          <p:cNvPr id="128" name="Google Shape;128;p1"/>
          <p:cNvSpPr txBox="1"/>
          <p:nvPr/>
        </p:nvSpPr>
        <p:spPr>
          <a:xfrm>
            <a:off x="15418037" y="12716279"/>
            <a:ext cx="12433206" cy="448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3430" spc="130" dirty="0">
                <a:latin typeface="Inter"/>
                <a:ea typeface="Inter"/>
                <a:cs typeface="Open Sans 2" panose="020B0604020202020204" charset="0"/>
                <a:sym typeface="Inter"/>
              </a:rPr>
              <a:t>Imagem 01: </a:t>
            </a:r>
            <a:r>
              <a:rPr lang="en-US" sz="3430" spc="130" dirty="0" err="1">
                <a:latin typeface="Inter"/>
                <a:ea typeface="Inter"/>
                <a:cs typeface="Open Sans 2" panose="020B0604020202020204" charset="0"/>
                <a:sym typeface="Inter"/>
              </a:rPr>
              <a:t>Exemplo</a:t>
            </a:r>
            <a:r>
              <a:rPr lang="en-US" sz="3430" spc="130" dirty="0">
                <a:latin typeface="Inter"/>
                <a:ea typeface="Inter"/>
                <a:cs typeface="Open Sans 2" panose="020B0604020202020204" charset="0"/>
                <a:sym typeface="Inter"/>
              </a:rPr>
              <a:t> de Tela</a:t>
            </a:r>
          </a:p>
        </p:txBody>
      </p:sp>
      <p:sp>
        <p:nvSpPr>
          <p:cNvPr id="129" name="Google Shape;129;p1"/>
          <p:cNvSpPr txBox="1"/>
          <p:nvPr/>
        </p:nvSpPr>
        <p:spPr>
          <a:xfrm>
            <a:off x="15383423" y="19944699"/>
            <a:ext cx="12433206" cy="448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Fonte: </a:t>
            </a:r>
            <a:r>
              <a:rPr lang="en-US" sz="34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Autoria</a:t>
            </a:r>
            <a:r>
              <a:rPr lang="en-US" sz="34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Própria</a:t>
            </a:r>
            <a:r>
              <a:rPr lang="en-US" sz="34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(2025)</a:t>
            </a:r>
            <a:endParaRPr dirty="0"/>
          </a:p>
        </p:txBody>
      </p:sp>
      <p:sp>
        <p:nvSpPr>
          <p:cNvPr id="130" name="Google Shape;130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/>
          </a:p>
        </p:txBody>
      </p:sp>
      <p:sp>
        <p:nvSpPr>
          <p:cNvPr id="131" name="Google Shape;131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/>
          </a:p>
        </p:txBody>
      </p:sp>
      <p:sp>
        <p:nvSpPr>
          <p:cNvPr id="132" name="Google Shape;132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/>
          </a:p>
        </p:txBody>
      </p:sp>
      <p:sp>
        <p:nvSpPr>
          <p:cNvPr id="133" name="Google Shape;133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/>
          </a:p>
        </p:txBody>
      </p:sp>
      <p:sp>
        <p:nvSpPr>
          <p:cNvPr id="134" name="Google Shape;134;p1"/>
          <p:cNvSpPr txBox="1"/>
          <p:nvPr/>
        </p:nvSpPr>
        <p:spPr>
          <a:xfrm>
            <a:off x="15966975" y="31719851"/>
            <a:ext cx="11400000" cy="492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ts val="4802"/>
              </a:lnSpc>
            </a:pPr>
            <a:r>
              <a:rPr lang="en-US" sz="3430" b="1" dirty="0">
                <a:latin typeface="Open Sans 2"/>
                <a:ea typeface="Open Sans 2"/>
                <a:cs typeface="Open Sans 2"/>
                <a:sym typeface="Open Sans 2"/>
              </a:rPr>
              <a:t>STREAMLIT. </a:t>
            </a:r>
            <a:r>
              <a:rPr lang="en-US" sz="3430" b="1" dirty="0" err="1">
                <a:latin typeface="Open Sans 2"/>
                <a:ea typeface="Open Sans 2"/>
                <a:cs typeface="Open Sans 2"/>
                <a:sym typeface="Open Sans 2"/>
              </a:rPr>
              <a:t>Streamlit</a:t>
            </a:r>
            <a:r>
              <a:rPr lang="en-US" sz="3430" b="1" dirty="0">
                <a:latin typeface="Open Sans 2"/>
                <a:ea typeface="Open Sans 2"/>
                <a:cs typeface="Open Sans 2"/>
                <a:sym typeface="Open Sans 2"/>
              </a:rPr>
              <a:t> Documentation. </a:t>
            </a:r>
            <a:r>
              <a:rPr lang="en-US" sz="3430" b="1" dirty="0" err="1">
                <a:latin typeface="Open Sans 2"/>
                <a:ea typeface="Open Sans 2"/>
                <a:cs typeface="Open Sans 2"/>
                <a:sym typeface="Open Sans 2"/>
              </a:rPr>
              <a:t>Disponível</a:t>
            </a:r>
            <a:r>
              <a:rPr lang="en-US" sz="3430" b="1" dirty="0"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30" b="1" dirty="0" err="1">
                <a:latin typeface="Open Sans 2"/>
                <a:ea typeface="Open Sans 2"/>
                <a:cs typeface="Open Sans 2"/>
                <a:sym typeface="Open Sans 2"/>
              </a:rPr>
              <a:t>em</a:t>
            </a:r>
            <a:r>
              <a:rPr lang="en-US" sz="3430" b="1" dirty="0">
                <a:latin typeface="Open Sans 2"/>
                <a:ea typeface="Open Sans 2"/>
                <a:cs typeface="Open Sans 2"/>
                <a:sym typeface="Open Sans 2"/>
              </a:rPr>
              <a:t>: docs.streamlit.io</a:t>
            </a:r>
          </a:p>
          <a:p>
            <a:pPr algn="just">
              <a:lnSpc>
                <a:spcPts val="4802"/>
              </a:lnSpc>
            </a:pPr>
            <a:endParaRPr lang="en-US" sz="3430" b="1" dirty="0">
              <a:latin typeface="Open Sans 2"/>
              <a:ea typeface="Open Sans 2"/>
              <a:cs typeface="Open Sans 2"/>
              <a:sym typeface="Open Sans 2"/>
            </a:endParaRPr>
          </a:p>
          <a:p>
            <a:pPr algn="just">
              <a:lnSpc>
                <a:spcPts val="4802"/>
              </a:lnSpc>
            </a:pPr>
            <a:r>
              <a:rPr lang="en-US" sz="3430" b="1" dirty="0">
                <a:latin typeface="Open Sans 2"/>
                <a:ea typeface="Open Sans 2"/>
                <a:cs typeface="Open Sans 2"/>
                <a:sym typeface="Open Sans 2"/>
              </a:rPr>
              <a:t>PYTHON SOFTWARE FOUNDATION. Python Documentation. </a:t>
            </a:r>
            <a:r>
              <a:rPr lang="en-US" sz="3430" b="1" dirty="0" err="1">
                <a:latin typeface="Open Sans 2"/>
                <a:ea typeface="Open Sans 2"/>
                <a:cs typeface="Open Sans 2"/>
                <a:sym typeface="Open Sans 2"/>
              </a:rPr>
              <a:t>Disponível</a:t>
            </a:r>
            <a:r>
              <a:rPr lang="en-US" sz="3430" b="1" dirty="0"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30" b="1" dirty="0" err="1">
                <a:latin typeface="Open Sans 2"/>
                <a:ea typeface="Open Sans 2"/>
                <a:cs typeface="Open Sans 2"/>
                <a:sym typeface="Open Sans 2"/>
              </a:rPr>
              <a:t>em</a:t>
            </a:r>
            <a:r>
              <a:rPr lang="en-US" sz="3430" b="1" dirty="0">
                <a:latin typeface="Open Sans 2"/>
                <a:ea typeface="Open Sans 2"/>
                <a:cs typeface="Open Sans 2"/>
                <a:sym typeface="Open Sans 2"/>
              </a:rPr>
              <a:t>: docs.python.org/3/</a:t>
            </a:r>
          </a:p>
          <a:p>
            <a:pPr algn="just">
              <a:lnSpc>
                <a:spcPts val="4802"/>
              </a:lnSpc>
            </a:pPr>
            <a:endParaRPr lang="en-US" sz="3430" b="1" dirty="0">
              <a:latin typeface="Open Sans 2"/>
              <a:ea typeface="Open Sans 2"/>
              <a:cs typeface="Open Sans 2"/>
              <a:sym typeface="Open Sans 2"/>
            </a:endParaRPr>
          </a:p>
          <a:p>
            <a:pPr algn="just">
              <a:lnSpc>
                <a:spcPts val="4802"/>
              </a:lnSpc>
            </a:pPr>
            <a:r>
              <a:rPr lang="pt-BR" sz="3430" b="1" dirty="0">
                <a:latin typeface="Open Sans 2"/>
                <a:ea typeface="Open Sans 2"/>
                <a:cs typeface="Open Sans 2"/>
                <a:sym typeface="Open Sans 2"/>
              </a:rPr>
              <a:t>GOOGLE. Google </a:t>
            </a:r>
            <a:r>
              <a:rPr lang="pt-BR" sz="3430" b="1" dirty="0" err="1">
                <a:latin typeface="Open Sans 2"/>
                <a:ea typeface="Open Sans 2"/>
                <a:cs typeface="Open Sans 2"/>
                <a:sym typeface="Open Sans 2"/>
              </a:rPr>
              <a:t>Colaboratory</a:t>
            </a:r>
            <a:r>
              <a:rPr lang="pt-BR" sz="3430" b="1" dirty="0"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pt-BR" sz="3430" b="1" dirty="0" err="1">
                <a:latin typeface="Open Sans 2"/>
                <a:ea typeface="Open Sans 2"/>
                <a:cs typeface="Open Sans 2"/>
                <a:sym typeface="Open Sans 2"/>
              </a:rPr>
              <a:t>Documentation</a:t>
            </a:r>
            <a:r>
              <a:rPr lang="pt-BR" sz="3430" b="1" dirty="0">
                <a:latin typeface="Open Sans 2"/>
                <a:ea typeface="Open Sans 2"/>
                <a:cs typeface="Open Sans 2"/>
                <a:sym typeface="Open Sans 2"/>
              </a:rPr>
              <a:t>. Disponível em: </a:t>
            </a:r>
            <a:r>
              <a:rPr lang="pt-BR" sz="3430" b="1" dirty="0" err="1">
                <a:latin typeface="Open Sans 2"/>
                <a:ea typeface="Open Sans 2"/>
                <a:cs typeface="Open Sans 2"/>
                <a:sym typeface="Open Sans 2"/>
              </a:rPr>
              <a:t>colab.google</a:t>
            </a:r>
            <a:r>
              <a:rPr lang="pt-BR" sz="3430" b="1" dirty="0">
                <a:latin typeface="Open Sans 2"/>
                <a:ea typeface="Open Sans 2"/>
                <a:cs typeface="Open Sans 2"/>
                <a:sym typeface="Open Sans 2"/>
              </a:rPr>
              <a:t>/</a:t>
            </a:r>
            <a:endParaRPr lang="en-US" sz="3430" b="1" dirty="0"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1595875" y="31719850"/>
            <a:ext cx="12562800" cy="5539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ts val="4802"/>
              </a:lnSpc>
            </a:pPr>
            <a:r>
              <a:rPr lang="pt-BR" sz="3430" b="1" dirty="0">
                <a:latin typeface="Open Sans 2"/>
                <a:ea typeface="Open Sans 2"/>
                <a:cs typeface="Open Sans 2"/>
                <a:sym typeface="Open Sans 2"/>
              </a:rPr>
              <a:t>No desenvolvimento do projeto, foram utilizadas ferramentas voltadas à coleta, tratamento, análise e visualização de dados:</a:t>
            </a:r>
          </a:p>
          <a:p>
            <a:pPr algn="just">
              <a:lnSpc>
                <a:spcPts val="4802"/>
              </a:lnSpc>
            </a:pPr>
            <a:endParaRPr lang="en-US" sz="3430" b="1" dirty="0">
              <a:latin typeface="Open Sans 2"/>
              <a:ea typeface="Open Sans 2"/>
              <a:cs typeface="Open Sans 2"/>
              <a:sym typeface="Open Sans 2"/>
            </a:endParaRPr>
          </a:p>
          <a:p>
            <a:pPr marL="740593" lvl="1" indent="-370297" algn="just">
              <a:lnSpc>
                <a:spcPts val="4802"/>
              </a:lnSpc>
              <a:buFont typeface="Arial"/>
              <a:buChar char="•"/>
            </a:pPr>
            <a:r>
              <a:rPr lang="en-US" sz="3430" b="1" dirty="0">
                <a:latin typeface="Open Sans 2"/>
                <a:ea typeface="Open Sans 2"/>
                <a:cs typeface="Open Sans 2"/>
                <a:sym typeface="Open Sans 2"/>
              </a:rPr>
              <a:t>Google </a:t>
            </a:r>
            <a:r>
              <a:rPr lang="en-US" sz="3430" b="1" dirty="0" err="1">
                <a:latin typeface="Open Sans 2"/>
                <a:ea typeface="Open Sans 2"/>
                <a:cs typeface="Open Sans 2"/>
                <a:sym typeface="Open Sans 2"/>
              </a:rPr>
              <a:t>Colab</a:t>
            </a:r>
            <a:endParaRPr lang="en-US" sz="3430" b="1" dirty="0">
              <a:latin typeface="Open Sans 2"/>
              <a:ea typeface="Open Sans 2"/>
              <a:cs typeface="Open Sans 2"/>
              <a:sym typeface="Open Sans 2"/>
            </a:endParaRPr>
          </a:p>
          <a:p>
            <a:pPr marL="740593" lvl="1" indent="-370297" algn="just">
              <a:lnSpc>
                <a:spcPts val="4802"/>
              </a:lnSpc>
              <a:buFont typeface="Arial"/>
              <a:buChar char="•"/>
            </a:pPr>
            <a:r>
              <a:rPr lang="en-US" sz="3430" b="1" dirty="0">
                <a:latin typeface="Open Sans 2"/>
                <a:ea typeface="Open Sans 2"/>
                <a:cs typeface="Open Sans 2"/>
                <a:sym typeface="Open Sans 2"/>
              </a:rPr>
              <a:t>Python</a:t>
            </a:r>
          </a:p>
          <a:p>
            <a:pPr marL="740593" lvl="1" indent="-370297" algn="just">
              <a:lnSpc>
                <a:spcPts val="4802"/>
              </a:lnSpc>
              <a:buFont typeface="Arial"/>
              <a:buChar char="•"/>
            </a:pPr>
            <a:r>
              <a:rPr lang="en-US" sz="3430" b="1" dirty="0" err="1">
                <a:latin typeface="Open Sans 2"/>
                <a:ea typeface="Open Sans 2"/>
                <a:cs typeface="Open Sans 2"/>
                <a:sym typeface="Open Sans 2"/>
              </a:rPr>
              <a:t>Streamlit</a:t>
            </a:r>
            <a:endParaRPr lang="en-US" sz="3430" b="1" dirty="0">
              <a:latin typeface="Open Sans 2"/>
              <a:ea typeface="Open Sans 2"/>
              <a:cs typeface="Open Sans 2"/>
              <a:sym typeface="Open Sans 2"/>
            </a:endParaRPr>
          </a:p>
          <a:p>
            <a:pPr marL="740593" lvl="1" indent="-370297" algn="just">
              <a:lnSpc>
                <a:spcPts val="4802"/>
              </a:lnSpc>
              <a:buFont typeface="Arial"/>
              <a:buChar char="•"/>
            </a:pPr>
            <a:r>
              <a:rPr lang="en-US" sz="3430" b="1" dirty="0" err="1">
                <a:latin typeface="Open Sans 2"/>
                <a:ea typeface="Open Sans 2"/>
                <a:cs typeface="Open Sans 2"/>
                <a:sym typeface="Open Sans 2"/>
              </a:rPr>
              <a:t>Rstudio</a:t>
            </a:r>
            <a:endParaRPr lang="en-US" sz="3430" b="1" dirty="0">
              <a:latin typeface="Open Sans 2"/>
              <a:ea typeface="Open Sans 2"/>
              <a:cs typeface="Open Sans 2"/>
              <a:sym typeface="Open Sans 2"/>
            </a:endParaRPr>
          </a:p>
          <a:p>
            <a:pPr marL="740593" lvl="1" indent="-370297" algn="just">
              <a:lnSpc>
                <a:spcPts val="4802"/>
              </a:lnSpc>
              <a:buFont typeface="Arial"/>
              <a:buChar char="•"/>
            </a:pPr>
            <a:r>
              <a:rPr lang="en-US" sz="3430" b="1" dirty="0" err="1">
                <a:latin typeface="Open Sans 2"/>
                <a:ea typeface="Open Sans 2"/>
                <a:cs typeface="Open Sans 2"/>
                <a:sym typeface="Open Sans 2"/>
              </a:rPr>
              <a:t>Supabase</a:t>
            </a:r>
            <a:endParaRPr lang="en-US" sz="3430" b="1" dirty="0"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1595870" y="10749184"/>
            <a:ext cx="12562800" cy="738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ts val="4802"/>
              </a:lnSpc>
            </a:pPr>
            <a:r>
              <a:rPr lang="pt-BR" sz="3430" b="1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A Cannoli enfrenta dificuldades na análise estratégica dos dados gerados pelas campanhas realizadas para seus clientes. Atualmente, a ausência de uma ferramenta centralizada e inteligente dificulta a avaliação rápida e com precisão do impacto positivo ou negativo das campanhas de marketing, tornando o processo de análise demorado e menos eficiente.</a:t>
            </a:r>
          </a:p>
          <a:p>
            <a:pPr lvl="0" algn="just">
              <a:lnSpc>
                <a:spcPts val="4802"/>
              </a:lnSpc>
            </a:pPr>
            <a:r>
              <a:rPr lang="pt-BR" sz="3430" b="1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Dessa forma, surge a necessidade de desenvolver uma plataforma capaz de coletar, tratar e visualizar dados de campanhas, permitindo acompanhar indicadores como conversão de vendas, faturamento, ticket médio e engajamento dos clientes.</a:t>
            </a:r>
            <a:endParaRPr sz="3430" b="1" dirty="0">
              <a:solidFill>
                <a:srgbClr val="000000"/>
              </a:solidFill>
              <a:latin typeface="Open Sans 2" panose="020B0604020202020204" charset="0"/>
              <a:ea typeface="Open Sans 2" panose="020B0604020202020204" charset="0"/>
              <a:cs typeface="Open Sans 2" panose="020B0604020202020204" charset="0"/>
              <a:sym typeface="Open Sans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570066" y="21125709"/>
            <a:ext cx="12562800" cy="923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ts val="4802"/>
              </a:lnSpc>
            </a:pPr>
            <a:r>
              <a:rPr lang="pt-BR" sz="3430" b="1" dirty="0">
                <a:latin typeface="Open Sans 2"/>
                <a:ea typeface="Open Sans 2"/>
                <a:cs typeface="Open Sans 2"/>
                <a:sym typeface="Open Sans 2"/>
              </a:rPr>
              <a:t>Foi pensado em desenvolver uma plataforma de centralização e análise de dados para a Cannoli, que seria projetada para transformar métricas complexas em insights visuais e acionáveis.</a:t>
            </a:r>
          </a:p>
          <a:p>
            <a:pPr algn="just">
              <a:lnSpc>
                <a:spcPts val="4802"/>
              </a:lnSpc>
            </a:pPr>
            <a:r>
              <a:rPr lang="pt-BR" sz="3430" b="1" dirty="0">
                <a:latin typeface="Open Sans 2"/>
                <a:ea typeface="Open Sans 2"/>
                <a:cs typeface="Open Sans 2"/>
                <a:sym typeface="Open Sans 2"/>
              </a:rPr>
              <a:t>O foco principal seria otimizar a leitura de KPIs e agilizar a tomada de decisão operacional. Além disso, possibilitaria a visualização intuitiva e a arquitetura seria desenhada priorizando a escalabilidade e a segurança, garantindo que a integridade dos dados seria mantida mesmo com um possível aumento do volume de informações processadas. Com uma estrutura modular e pronta para integração com múltiplas fontes, o dashboard atuaria como uma ferramenta estratégica que permitiria identificar tendências, antecipar gargalos operacionais e refinar o fluxo de trabalho diário da empresa com precisão.</a:t>
            </a:r>
            <a:endParaRPr lang="en-US" sz="3430" b="1" dirty="0"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 b="1">
                <a:latin typeface="Open Sans"/>
                <a:ea typeface="Open Sans"/>
                <a:cs typeface="Open Sans"/>
                <a:sym typeface="Open Sans"/>
              </a:rPr>
              <a:t>IV </a:t>
            </a:r>
            <a:r>
              <a:rPr lang="en-US" sz="4955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FECAP DE TECNOLOGIA - 2026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/>
          </a:p>
        </p:txBody>
      </p:sp>
      <p:sp>
        <p:nvSpPr>
          <p:cNvPr id="139" name="Google Shape;139;p1"/>
          <p:cNvSpPr txBox="1"/>
          <p:nvPr/>
        </p:nvSpPr>
        <p:spPr>
          <a:xfrm>
            <a:off x="15617816" y="10880630"/>
            <a:ext cx="11904157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ts val="4802"/>
              </a:lnSpc>
            </a:pPr>
            <a:r>
              <a:rPr lang="pt-BR" sz="3430" b="1" dirty="0">
                <a:latin typeface="Open Sans 2"/>
                <a:ea typeface="Open Sans 2"/>
                <a:cs typeface="Open Sans 2"/>
                <a:sym typeface="Open Sans 2"/>
              </a:rPr>
              <a:t>O dashboard desenvolvido possibilitou a centralização e análise inteligente dos dados de campanhas da Cannoli.</a:t>
            </a:r>
            <a:endParaRPr lang="en-US" sz="3430" b="1" dirty="0"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15840975" y="21000893"/>
            <a:ext cx="11652000" cy="923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ts val="4802"/>
              </a:lnSpc>
            </a:pPr>
            <a:r>
              <a:rPr lang="pt-BR" sz="3430" b="1" dirty="0">
                <a:latin typeface="Open Sans 2"/>
                <a:ea typeface="Open Sans 2"/>
                <a:cs typeface="Open Sans 2"/>
                <a:sym typeface="Open Sans 2"/>
              </a:rPr>
              <a:t>A solução permite selecionar campanhas específicas e, de forma automática, identificar a loja vinculada, calcular métricas financeiras como faturamento e ticket médio, além de apresentar indicadores de conversão e desempenho operacional em tempo real.</a:t>
            </a:r>
          </a:p>
          <a:p>
            <a:pPr algn="just">
              <a:lnSpc>
                <a:spcPts val="4802"/>
              </a:lnSpc>
            </a:pPr>
            <a:r>
              <a:rPr lang="pt-BR" sz="3430" b="1" dirty="0">
                <a:latin typeface="Open Sans 2"/>
                <a:ea typeface="Open Sans 2"/>
                <a:cs typeface="Open Sans 2"/>
                <a:sym typeface="Open Sans 2"/>
              </a:rPr>
              <a:t>Como diferencial, foi implementado um módulo de Inteligência Artificial, responsável por analisar os resultados das campanhas e gerar insights automáticos sobre performance, destacando pontos fortes, oportunidades de melhoria e recomendações estratégicas.</a:t>
            </a:r>
          </a:p>
          <a:p>
            <a:pPr algn="just">
              <a:lnSpc>
                <a:spcPts val="4802"/>
              </a:lnSpc>
            </a:pPr>
            <a:r>
              <a:rPr lang="pt-BR" sz="3430" b="1" dirty="0">
                <a:latin typeface="Open Sans 2"/>
                <a:ea typeface="Open Sans 2"/>
                <a:cs typeface="Open Sans 2"/>
                <a:sym typeface="Open Sans 2"/>
              </a:rPr>
              <a:t>Por falta de recursos e tempo, infelizmente não foi possível desenhar uma arquitetura priorizando a escalabilidade para receber um grande volume de dados sem influenciar na performance do sistema.</a:t>
            </a:r>
            <a:endParaRPr lang="en-US" sz="3430" b="1" dirty="0">
              <a:latin typeface="Open Sans 2"/>
              <a:ea typeface="Open Sans 2"/>
              <a:cs typeface="Open Sans 2"/>
              <a:sym typeface="Open Sans 2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0D71F03-6306-19C1-AD8C-19A358F492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2560" y="13772473"/>
            <a:ext cx="11400508" cy="55648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467</Words>
  <Application>Microsoft Office PowerPoint</Application>
  <PresentationFormat>Personalizar</PresentationFormat>
  <Paragraphs>33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Open Sans</vt:lpstr>
      <vt:lpstr>Open Sans 1 Bold</vt:lpstr>
      <vt:lpstr>Arial</vt:lpstr>
      <vt:lpstr>Open Sans 2</vt:lpstr>
      <vt:lpstr>Inter</vt:lpstr>
      <vt:lpstr>Calibri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Saulo Ribeiro Santos - 24026911</cp:lastModifiedBy>
  <cp:revision>1</cp:revision>
  <dcterms:created xsi:type="dcterms:W3CDTF">2006-08-16T00:00:00Z</dcterms:created>
  <dcterms:modified xsi:type="dcterms:W3CDTF">2026-05-11T02:11:59Z</dcterms:modified>
</cp:coreProperties>
</file>